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SAAS PROPERTY &amp;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56231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CHANNEL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CDDCF4"/>
                </a:solidFill>
                <a:latin typeface="Aptos"/>
              </a:rPr>
              <a:t>Manage your property once. Sell everywhere.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521208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5BBDA"/>
                </a:solidFill>
                <a:latin typeface="Aptos"/>
              </a:rPr>
              <a:t>Hotels • Homestays • Villas • Bungalows • Resorts • Property Managers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977639"/>
            <a:ext cx="1417320" cy="274320"/>
          </a:xfrm>
          <a:prstGeom prst="roundRect">
            <a:avLst/>
          </a:prstGeom>
          <a:solidFill>
            <a:srgbClr val="25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991355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SAAS PRODUCT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04288" y="3977639"/>
            <a:ext cx="1737360" cy="274320"/>
          </a:xfrm>
          <a:prstGeom prst="roundRect">
            <a:avLst/>
          </a:prstGeom>
          <a:solidFill>
            <a:srgbClr val="21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3991355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CHANNEL 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557D6"/>
                </a:solidFill>
                <a:latin typeface="Aptos"/>
              </a:rPr>
              <a:t>02  |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C2340"/>
                </a:solidFill>
                <a:latin typeface="Apto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7284"/>
                </a:solidFill>
                <a:latin typeface="Aptos"/>
              </a:rPr>
              <a:t>Fragmented booking channels create operational risk and unnecessary manual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25780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373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557D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719072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Multiple logins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121408"/>
            <a:ext cx="4160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7284"/>
                </a:solidFill>
                <a:latin typeface="Aptos"/>
              </a:rPr>
              <a:t>Owners update each booking platform separately.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25780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73736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557D6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1719072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Rate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2" y="2121408"/>
            <a:ext cx="4160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7284"/>
                </a:solidFill>
                <a:latin typeface="Aptos"/>
              </a:rPr>
              <a:t>Different prices can remain live across channels.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525780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6576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557D6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639312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Inventory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4041648"/>
            <a:ext cx="4160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7284"/>
                </a:solidFill>
                <a:latin typeface="Aptos"/>
              </a:rPr>
              <a:t>Manual updates increase overbooking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474720"/>
            <a:ext cx="525780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36576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557D6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3639312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C2340"/>
                </a:solidFill>
                <a:latin typeface="Aptos"/>
              </a:rPr>
              <a:t>Scattered 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4041648"/>
            <a:ext cx="4160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7284"/>
                </a:solidFill>
                <a:latin typeface="Aptos"/>
              </a:rPr>
              <a:t>Photos, descriptions and policies become inconsistent.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557D6"/>
                </a:solidFill>
                <a:latin typeface="Aptos"/>
              </a:rPr>
              <a:t>03  |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C2340"/>
                </a:solidFill>
                <a:latin typeface="Aptos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7284"/>
                </a:solidFill>
                <a:latin typeface="Aptos"/>
              </a:rPr>
              <a:t>One central source of truth distributes supported information to connected booking channels.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874519"/>
            <a:ext cx="3840480" cy="2377440"/>
          </a:xfrm>
          <a:prstGeom prst="roundRect">
            <a:avLst/>
          </a:prstGeom>
          <a:solidFill>
            <a:srgbClr val="EBF1FF"/>
          </a:solidFill>
          <a:ln w="8890">
            <a:solidFill>
              <a:srgbClr val="BEC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1945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557D6"/>
                </a:solidFill>
                <a:latin typeface="Aptos"/>
              </a:rPr>
              <a:t>STAYSYNC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6517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MASTER PROPERTY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306324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7284"/>
                </a:solidFill>
                <a:latin typeface="Aptos"/>
              </a:rPr>
              <a:t>Property • Rooms • Photos
Rates • Inventory • Discounts
Bookings • Policies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23317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C2340"/>
                </a:solidFill>
                <a:latin typeface="Aptos"/>
              </a:rPr>
              <a:t>Booking.com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88920"/>
            <a:ext cx="23317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C2340"/>
                </a:solidFill>
                <a:latin typeface="Aptos"/>
              </a:rPr>
              <a:t>Airbnb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49039"/>
            <a:ext cx="23317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3192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C2340"/>
                </a:solidFill>
                <a:latin typeface="Aptos"/>
              </a:rPr>
              <a:t>MakeMyTrip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1828800"/>
            <a:ext cx="23317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201168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C2340"/>
                </a:solidFill>
                <a:latin typeface="Aptos"/>
              </a:rPr>
              <a:t>Agoda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788920"/>
            <a:ext cx="2331720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97180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C2340"/>
                </a:solidFill>
                <a:latin typeface="Aptos"/>
              </a:rPr>
              <a:t>Expedia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17520" y="2148840"/>
            <a:ext cx="1143000" cy="914400"/>
          </a:xfrm>
          <a:prstGeom prst="line">
            <a:avLst/>
          </a:prstGeom>
          <a:ln w="22860">
            <a:solidFill>
              <a:srgbClr val="255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017520" y="3063240"/>
            <a:ext cx="1143000" cy="45720"/>
          </a:xfrm>
          <a:prstGeom prst="line">
            <a:avLst/>
          </a:prstGeom>
          <a:ln w="22860">
            <a:solidFill>
              <a:srgbClr val="255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017520" y="3063240"/>
            <a:ext cx="1143000" cy="1005840"/>
          </a:xfrm>
          <a:prstGeom prst="line">
            <a:avLst/>
          </a:prstGeom>
          <a:ln w="22860">
            <a:solidFill>
              <a:srgbClr val="255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001000" y="2148840"/>
            <a:ext cx="1005840" cy="914400"/>
          </a:xfrm>
          <a:prstGeom prst="line">
            <a:avLst/>
          </a:prstGeom>
          <a:ln w="22860">
            <a:solidFill>
              <a:srgbClr val="255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01000" y="3063240"/>
            <a:ext cx="1005840" cy="45720"/>
          </a:xfrm>
          <a:prstGeom prst="line">
            <a:avLst/>
          </a:prstGeom>
          <a:ln w="22860">
            <a:solidFill>
              <a:srgbClr val="255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557D6"/>
                </a:solidFill>
                <a:latin typeface="Aptos"/>
              </a:rPr>
              <a:t>04  |  OWNER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C2340"/>
                </a:solidFill>
                <a:latin typeface="Aptos"/>
              </a:rPr>
              <a:t>Owner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7284"/>
                </a:solidFill>
                <a:latin typeface="Aptos"/>
              </a:rPr>
              <a:t>Immediate visibility into performance, bookings and channel health.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146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7276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67284"/>
                </a:solidFill>
                <a:latin typeface="Aptos"/>
              </a:rPr>
              <a:t>Today's bookings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1051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C2340"/>
                </a:solidFill>
                <a:latin typeface="Aptos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856231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865B"/>
                </a:solidFill>
                <a:latin typeface="Aptos"/>
              </a:rPr>
              <a:t>+12%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417320"/>
            <a:ext cx="25146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57276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67284"/>
                </a:solidFill>
                <a:latin typeface="Aptos"/>
              </a:rPr>
              <a:t>Occupancy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81051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C2340"/>
                </a:solidFill>
                <a:latin typeface="Aptos"/>
              </a:rPr>
              <a:t>74%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856231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865B"/>
                </a:solidFill>
                <a:latin typeface="Aptos"/>
              </a:rPr>
              <a:t>+5%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25146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7276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67284"/>
                </a:solidFill>
                <a:latin typeface="Aptos"/>
              </a:rPr>
              <a:t>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81051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C2340"/>
                </a:solidFill>
                <a:latin typeface="Aptos"/>
              </a:rPr>
              <a:t>₹48,500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856231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865B"/>
                </a:solidFill>
                <a:latin typeface="Aptos"/>
              </a:rPr>
              <a:t>+18%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39" y="1417320"/>
            <a:ext cx="2514600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71431" y="1572768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67284"/>
                </a:solidFill>
                <a:latin typeface="Aptos"/>
              </a:rPr>
              <a:t>Channel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1" y="181051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C2340"/>
                </a:solidFill>
                <a:latin typeface="Aptos"/>
              </a:rPr>
              <a:t>4 /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9" y="1856231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8865B"/>
                </a:solidFill>
                <a:latin typeface="Aptos"/>
              </a:rPr>
              <a:t>1 issue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606040"/>
            <a:ext cx="6492240" cy="3200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83464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Occupancy Trend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617720"/>
            <a:ext cx="384048" cy="640080"/>
          </a:xfrm>
          <a:prstGeom prst="rect">
            <a:avLst/>
          </a:prstGeom>
          <a:solidFill>
            <a:srgbClr val="CDD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36192" y="4251960"/>
            <a:ext cx="384048" cy="1005840"/>
          </a:xfrm>
          <a:prstGeom prst="rect">
            <a:avLst/>
          </a:prstGeom>
          <a:solidFill>
            <a:srgbClr val="CDD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57984" y="4434840"/>
            <a:ext cx="384048" cy="822960"/>
          </a:xfrm>
          <a:prstGeom prst="rect">
            <a:avLst/>
          </a:prstGeom>
          <a:solidFill>
            <a:srgbClr val="CDD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79776" y="3977639"/>
            <a:ext cx="384048" cy="1280160"/>
          </a:xfrm>
          <a:prstGeom prst="rect">
            <a:avLst/>
          </a:prstGeom>
          <a:solidFill>
            <a:srgbClr val="CDD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01568" y="3611880"/>
            <a:ext cx="384048" cy="1645920"/>
          </a:xfrm>
          <a:prstGeom prst="rect">
            <a:avLst/>
          </a:prstGeom>
          <a:solidFill>
            <a:srgbClr val="CDD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23360" y="3886200"/>
            <a:ext cx="384048" cy="1371600"/>
          </a:xfrm>
          <a:prstGeom prst="rect">
            <a:avLst/>
          </a:prstGeom>
          <a:solidFill>
            <a:srgbClr val="CDD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45152" y="3429000"/>
            <a:ext cx="384048" cy="1828800"/>
          </a:xfrm>
          <a:prstGeom prst="rect">
            <a:avLst/>
          </a:prstGeom>
          <a:solidFill>
            <a:srgbClr val="CDD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66944" y="3703320"/>
            <a:ext cx="384048" cy="1554480"/>
          </a:xfrm>
          <a:prstGeom prst="rect">
            <a:avLst/>
          </a:prstGeom>
          <a:solidFill>
            <a:srgbClr val="CDD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88736" y="3154680"/>
            <a:ext cx="384048" cy="2103120"/>
          </a:xfrm>
          <a:prstGeom prst="rect">
            <a:avLst/>
          </a:prstGeom>
          <a:solidFill>
            <a:srgbClr val="25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60920" y="2606040"/>
            <a:ext cx="4160520" cy="3200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283464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Channel Sync 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2918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C2736"/>
                </a:solidFill>
                <a:latin typeface="Aptos"/>
              </a:rPr>
              <a:t>Booking.com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38360" y="3273552"/>
            <a:ext cx="1234440" cy="274320"/>
          </a:xfrm>
          <a:prstGeom prst="roundRect">
            <a:avLst/>
          </a:prstGeom>
          <a:solidFill>
            <a:srgbClr val="18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8360" y="328726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Synced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373075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C2736"/>
                </a:solidFill>
                <a:latin typeface="Aptos"/>
              </a:rPr>
              <a:t>Airbnb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38360" y="3712464"/>
            <a:ext cx="1234440" cy="274320"/>
          </a:xfrm>
          <a:prstGeom prst="roundRect">
            <a:avLst/>
          </a:prstGeom>
          <a:solidFill>
            <a:srgbClr val="18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38360" y="3726180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Synced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4169664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C2736"/>
                </a:solidFill>
                <a:latin typeface="Aptos"/>
              </a:rPr>
              <a:t>MMT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38360" y="4151376"/>
            <a:ext cx="1234440" cy="274320"/>
          </a:xfrm>
          <a:prstGeom prst="roundRect">
            <a:avLst/>
          </a:prstGeom>
          <a:solidFill>
            <a:srgbClr val="E2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4165092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2 issues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460857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C2736"/>
                </a:solidFill>
                <a:latin typeface="Aptos"/>
              </a:rPr>
              <a:t>Agoda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38360" y="4590288"/>
            <a:ext cx="1234440" cy="274320"/>
          </a:xfrm>
          <a:prstGeom prst="roundRect">
            <a:avLst/>
          </a:prstGeom>
          <a:solidFill>
            <a:srgbClr val="18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38360" y="4604004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Synced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504748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1C2736"/>
                </a:solidFill>
                <a:latin typeface="Aptos"/>
              </a:rPr>
              <a:t>Expedia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38360" y="5029200"/>
            <a:ext cx="1234440" cy="274320"/>
          </a:xfrm>
          <a:prstGeom prst="roundRect">
            <a:avLst/>
          </a:prstGeom>
          <a:solidFill>
            <a:srgbClr val="C63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38360" y="5042916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Offline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557D6"/>
                </a:solidFill>
                <a:latin typeface="Aptos"/>
              </a:rPr>
              <a:t>05  |  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C2340"/>
                </a:solidFill>
                <a:latin typeface="Aptos"/>
              </a:rPr>
              <a:t>Core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7284"/>
                </a:solidFill>
                <a:latin typeface="Aptos"/>
              </a:rPr>
              <a:t>A single operating workspace for the property owner.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2900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91639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557D6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673351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Property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13055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Profile, policies, amenities and photos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42900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39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557D6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1673351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Rooms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213055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Room types, units and facilities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342900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91639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557D6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1673351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Inventory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213055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Availability calendar and blocks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66160"/>
            <a:ext cx="342900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749039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557D6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73075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Rates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18795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Rate plans, discounts and promotions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42900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749039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557D6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3208" y="373075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Bookings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418795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Unified bookings and cancellations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566160"/>
            <a:ext cx="342900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749039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557D6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373075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Channels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4187952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Connections, mapping, sync and issues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557D6"/>
                </a:solidFill>
                <a:latin typeface="Aptos"/>
              </a:rPr>
              <a:t>06  |  CHANNEL SYNCHRONIZATION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C2340"/>
                </a:solidFill>
                <a:latin typeface="Aptos"/>
              </a:rPr>
              <a:t>Channel Synchronization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7284"/>
                </a:solidFill>
                <a:latin typeface="Aptos"/>
              </a:rPr>
              <a:t>Asynchronous workers isolate each OTA so one failure does not block the others.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057400"/>
            <a:ext cx="1645920" cy="1234440"/>
          </a:xfrm>
          <a:prstGeom prst="roundRect">
            <a:avLst/>
          </a:prstGeom>
          <a:solidFill>
            <a:srgbClr val="EBF1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C2340"/>
                </a:solidFill>
                <a:latin typeface="Aptos"/>
              </a:rPr>
              <a:t>Owner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3347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667284"/>
                </a:solidFill>
                <a:latin typeface="Aptos"/>
              </a:rPr>
              <a:t>₹4,000 → ₹4,500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57400" y="2670048"/>
            <a:ext cx="320040" cy="0"/>
          </a:xfrm>
          <a:prstGeom prst="line">
            <a:avLst/>
          </a:prstGeom>
          <a:ln w="22860">
            <a:solidFill>
              <a:srgbClr val="255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77440" y="2057400"/>
            <a:ext cx="1645920" cy="1234440"/>
          </a:xfrm>
          <a:prstGeom prst="roundRect">
            <a:avLst/>
          </a:prstGeom>
          <a:solidFill>
            <a:srgbClr val="EBF1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2860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C2340"/>
                </a:solidFill>
                <a:latin typeface="Aptos"/>
              </a:rPr>
              <a:t>Master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63347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667284"/>
                </a:solidFill>
                <a:latin typeface="Aptos"/>
              </a:rPr>
              <a:t>Validate + save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23360" y="2670048"/>
            <a:ext cx="320040" cy="0"/>
          </a:xfrm>
          <a:prstGeom prst="line">
            <a:avLst/>
          </a:prstGeom>
          <a:ln w="22860">
            <a:solidFill>
              <a:srgbClr val="255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43400" y="2057400"/>
            <a:ext cx="1645920" cy="1234440"/>
          </a:xfrm>
          <a:prstGeom prst="roundRect">
            <a:avLst/>
          </a:prstGeom>
          <a:solidFill>
            <a:srgbClr val="EBF1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2860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C2340"/>
                </a:solidFill>
                <a:latin typeface="Aptos"/>
              </a:rPr>
              <a:t>Event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3347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667284"/>
                </a:solidFill>
                <a:latin typeface="Aptos"/>
              </a:rPr>
              <a:t>Create sync job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9320" y="2670048"/>
            <a:ext cx="320040" cy="0"/>
          </a:xfrm>
          <a:prstGeom prst="line">
            <a:avLst/>
          </a:prstGeom>
          <a:ln w="22860">
            <a:solidFill>
              <a:srgbClr val="255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59" y="2057400"/>
            <a:ext cx="1645920" cy="1234440"/>
          </a:xfrm>
          <a:prstGeom prst="roundRect">
            <a:avLst/>
          </a:prstGeom>
          <a:solidFill>
            <a:srgbClr val="EBF1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22860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C2340"/>
                </a:solidFill>
                <a:latin typeface="Aptos"/>
              </a:rPr>
              <a:t>Workers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9" y="263347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667284"/>
                </a:solidFill>
                <a:latin typeface="Aptos"/>
              </a:rPr>
              <a:t>One worker / OTA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55279" y="2670048"/>
            <a:ext cx="320040" cy="0"/>
          </a:xfrm>
          <a:prstGeom prst="line">
            <a:avLst/>
          </a:prstGeom>
          <a:ln w="22860">
            <a:solidFill>
              <a:srgbClr val="255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75319" y="2057400"/>
            <a:ext cx="1645920" cy="1234440"/>
          </a:xfrm>
          <a:prstGeom prst="roundRect">
            <a:avLst/>
          </a:prstGeom>
          <a:solidFill>
            <a:srgbClr val="EBF1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59" y="22860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C2340"/>
                </a:solidFill>
                <a:latin typeface="Aptos"/>
              </a:rPr>
              <a:t>OTA APIs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9" y="263347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667284"/>
                </a:solidFill>
                <a:latin typeface="Aptos"/>
              </a:rPr>
              <a:t>Push supported data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921240" y="2670048"/>
            <a:ext cx="320040" cy="0"/>
          </a:xfrm>
          <a:prstGeom prst="line">
            <a:avLst/>
          </a:prstGeom>
          <a:ln w="22860">
            <a:solidFill>
              <a:srgbClr val="255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241280" y="2057400"/>
            <a:ext cx="1645920" cy="1234440"/>
          </a:xfrm>
          <a:prstGeom prst="roundRect">
            <a:avLst/>
          </a:prstGeom>
          <a:solidFill>
            <a:srgbClr val="EBF1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19" y="22860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0C2340"/>
                </a:solidFill>
                <a:latin typeface="Aptos"/>
              </a:rPr>
              <a:t>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9" y="263347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667284"/>
                </a:solidFill>
                <a:latin typeface="Aptos"/>
              </a:rPr>
              <a:t>Success / failed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3192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7284"/>
                </a:solidFill>
                <a:latin typeface="Aptos"/>
              </a:rPr>
              <a:t>Supported fields and operations vary by OTA API, certification and commercial agreement.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709160"/>
            <a:ext cx="196596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463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C2340"/>
                </a:solidFill>
                <a:latin typeface="Aptos"/>
              </a:rPr>
              <a:t>Booking.com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093208"/>
            <a:ext cx="1463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8865B"/>
                </a:solidFill>
                <a:latin typeface="Aptos"/>
              </a:rPr>
              <a:t>Synced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4709160"/>
            <a:ext cx="196596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48463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C2340"/>
                </a:solidFill>
                <a:latin typeface="Aptos"/>
              </a:rPr>
              <a:t>Airbnb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5093208"/>
            <a:ext cx="1463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8865B"/>
                </a:solidFill>
                <a:latin typeface="Aptos"/>
              </a:rPr>
              <a:t>Synced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66360" y="4709160"/>
            <a:ext cx="196596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48463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C2340"/>
                </a:solidFill>
                <a:latin typeface="Aptos"/>
              </a:rPr>
              <a:t>MMT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5093208"/>
            <a:ext cx="1463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E29123"/>
                </a:solidFill>
                <a:latin typeface="Aptos"/>
              </a:rPr>
              <a:t>Differences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4709160"/>
            <a:ext cx="196596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0" y="48463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C2340"/>
                </a:solidFill>
                <a:latin typeface="Aptos"/>
              </a:rPr>
              <a:t>Agoda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5093208"/>
            <a:ext cx="1463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8865B"/>
                </a:solidFill>
                <a:latin typeface="Aptos"/>
              </a:rPr>
              <a:t>Synced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46920" y="4709160"/>
            <a:ext cx="1965960" cy="74980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48463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C2340"/>
                </a:solidFill>
                <a:latin typeface="Aptos"/>
              </a:rPr>
              <a:t>Expedia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5093208"/>
            <a:ext cx="14630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63D4F"/>
                </a:solidFill>
                <a:latin typeface="Aptos"/>
              </a:rPr>
              <a:t>Offline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557D6"/>
                </a:solidFill>
                <a:latin typeface="Aptos"/>
              </a:rPr>
              <a:t>07  |  DISCREPANCY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C2340"/>
                </a:solidFill>
                <a:latin typeface="Aptos"/>
              </a:rPr>
              <a:t>Discrepancy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7284"/>
                </a:solidFill>
                <a:latin typeface="Aptos"/>
              </a:rPr>
              <a:t>Highlight what differs and give the owner a clear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903720" cy="4480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C2340"/>
                </a:solidFill>
                <a:latin typeface="Aptos"/>
              </a:rPr>
              <a:t>SYNC ISSUES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640080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04288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C63D4F"/>
                </a:solidFill>
                <a:latin typeface="Aptos"/>
              </a:rP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3113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0C2340"/>
                </a:solidFill>
                <a:latin typeface="Aptos"/>
              </a:rPr>
              <a:t>Inventory mismatch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231136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C2736"/>
                </a:solidFill>
                <a:latin typeface="Aptos"/>
              </a:rPr>
              <a:t>Deluxe Room • Oct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96312"/>
            <a:ext cx="32004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67284"/>
                </a:solidFill>
                <a:latin typeface="Aptos"/>
              </a:rPr>
              <a:t>Master 2 / Airbnb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2313432"/>
            <a:ext cx="868680" cy="274320"/>
          </a:xfrm>
          <a:prstGeom prst="roundRect">
            <a:avLst/>
          </a:prstGeom>
          <a:solidFill>
            <a:srgbClr val="25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2327148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971800"/>
            <a:ext cx="640080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127248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29123"/>
                </a:solidFill>
                <a:latin typeface="Aptos"/>
              </a:rPr>
              <a:t>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05409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0C2340"/>
                </a:solidFill>
                <a:latin typeface="Aptos"/>
              </a:rPr>
              <a:t>Rate mismatch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054096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C2736"/>
                </a:solidFill>
                <a:latin typeface="Aptos"/>
              </a:rPr>
              <a:t>MMT • Deluxe Room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319272"/>
            <a:ext cx="32004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67284"/>
                </a:solidFill>
                <a:latin typeface="Aptos"/>
              </a:rPr>
              <a:t>₹4,500 / ₹4,200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3136392"/>
            <a:ext cx="868680" cy="274320"/>
          </a:xfrm>
          <a:prstGeom prst="roundRect">
            <a:avLst/>
          </a:prstGeom>
          <a:solidFill>
            <a:srgbClr val="25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3150108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Fix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794760"/>
            <a:ext cx="640080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950208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C63D4F"/>
                </a:solidFill>
                <a:latin typeface="Aptos"/>
              </a:rPr>
              <a:t>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87705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0C2340"/>
                </a:solidFill>
                <a:latin typeface="Aptos"/>
              </a:rPr>
              <a:t>Connection expired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877056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C2736"/>
                </a:solidFill>
                <a:latin typeface="Aptos"/>
              </a:rPr>
              <a:t>Expedia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142232"/>
            <a:ext cx="32004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67284"/>
                </a:solidFill>
                <a:latin typeface="Aptos"/>
              </a:rPr>
              <a:t>Last sync 1 hour ago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3959352"/>
            <a:ext cx="868680" cy="274320"/>
          </a:xfrm>
          <a:prstGeom prst="roundRect">
            <a:avLst/>
          </a:prstGeom>
          <a:solidFill>
            <a:srgbClr val="25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3973068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Reconnect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617720"/>
            <a:ext cx="640080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4773168"/>
            <a:ext cx="228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E29123"/>
                </a:solidFill>
                <a:latin typeface="Aptos"/>
              </a:rPr>
              <a:t>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470001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0C2340"/>
                </a:solidFill>
                <a:latin typeface="Aptos"/>
              </a:rPr>
              <a:t>Room 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4700016"/>
            <a:ext cx="1920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1C2736"/>
                </a:solidFill>
                <a:latin typeface="Aptos"/>
              </a:rPr>
              <a:t>2 rooms unmapped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965192"/>
            <a:ext cx="32004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67284"/>
                </a:solidFill>
                <a:latin typeface="Aptos"/>
              </a:rPr>
              <a:t>Complete channel setup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0" y="4782312"/>
            <a:ext cx="868680" cy="274320"/>
          </a:xfrm>
          <a:prstGeom prst="roundRect">
            <a:avLst/>
          </a:prstGeom>
          <a:solidFill>
            <a:srgbClr val="25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0" y="4796028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Map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1417320"/>
            <a:ext cx="3657600" cy="4480560"/>
          </a:xfrm>
          <a:prstGeom prst="roundRect">
            <a:avLst/>
          </a:prstGeom>
          <a:solidFill>
            <a:srgbClr val="EBF1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79" y="17373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0C2340"/>
                </a:solidFill>
                <a:latin typeface="Aptos"/>
              </a:rPr>
              <a:t>Channel Health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2148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557D6"/>
                </a:solidFill>
                <a:latin typeface="Aptos"/>
              </a:rPr>
              <a:t>92%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26974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67284"/>
                </a:solidFill>
                <a:latin typeface="Aptos"/>
              </a:rPr>
              <a:t>overall synchronization health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32461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1C2736"/>
                </a:solidFill>
                <a:latin typeface="Aptos"/>
              </a:rPr>
              <a:t>Inventory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32461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0C2340"/>
                </a:solidFill>
                <a:latin typeface="Aptos"/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3721608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1C2736"/>
                </a:solidFill>
                <a:latin typeface="Aptos"/>
              </a:rPr>
              <a:t>Rates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372160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0C2340"/>
                </a:solidFill>
                <a:latin typeface="Aptos"/>
              </a:rPr>
              <a:t>94%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4197096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1C2736"/>
                </a:solidFill>
                <a:latin typeface="Aptos"/>
              </a:rPr>
              <a:t>Bookings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419709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0C2340"/>
                </a:solidFill>
                <a:latin typeface="Aptos"/>
              </a:rPr>
              <a:t>100%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4672583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1C2736"/>
                </a:solidFill>
                <a:latin typeface="Aptos"/>
              </a:rPr>
              <a:t>Connections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0" y="4672583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0C2340"/>
                </a:solidFill>
                <a:latin typeface="Aptos"/>
              </a:rPr>
              <a:t>80%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557D6"/>
                </a:solidFill>
                <a:latin typeface="Aptos"/>
              </a:rPr>
              <a:t>08  |  SAAS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C2340"/>
                </a:solidFill>
                <a:latin typeface="Aptos"/>
              </a:rPr>
              <a:t>SaaS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7284"/>
                </a:solidFill>
                <a:latin typeface="Aptos"/>
              </a:rPr>
              <a:t>Simple plans that scale with the property's channel requirements.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342900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19072"/>
            <a:ext cx="1417320" cy="274320"/>
          </a:xfrm>
          <a:prstGeom prst="roundRect">
            <a:avLst/>
          </a:prstGeom>
          <a:solidFill>
            <a:srgbClr val="25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2787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FREE / 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Up to 2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7284"/>
                </a:solidFill>
                <a:latin typeface="Aptos"/>
              </a:rPr>
              <a:t>30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Aptos"/>
              </a:rPr>
              <a:t>Includes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64992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7284"/>
                </a:solidFill>
                <a:latin typeface="Aptos"/>
              </a:rPr>
              <a:t>✓ Inventory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12464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7284"/>
                </a:solidFill>
                <a:latin typeface="Aptos"/>
              </a:rPr>
              <a:t>✓ Rate 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59936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7284"/>
                </a:solidFill>
                <a:latin typeface="Aptos"/>
              </a:rPr>
              <a:t>✓ Availability 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07408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7284"/>
                </a:solidFill>
                <a:latin typeface="Aptos"/>
              </a:rPr>
              <a:t>✓ Basic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463040"/>
            <a:ext cx="342900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3440" y="1719072"/>
            <a:ext cx="1417320" cy="274320"/>
          </a:xfrm>
          <a:prstGeom prst="roundRect">
            <a:avLst/>
          </a:prstGeom>
          <a:solidFill>
            <a:srgbClr val="18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732787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19456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Up to 5 channels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6060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7284"/>
                </a:solidFill>
                <a:latin typeface="Aptos"/>
              </a:rPr>
              <a:t>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017520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Aptos"/>
              </a:rPr>
              <a:t>Includes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364992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7284"/>
                </a:solidFill>
                <a:latin typeface="Aptos"/>
              </a:rPr>
              <a:t>✓ Everything in Free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712464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7284"/>
                </a:solidFill>
                <a:latin typeface="Aptos"/>
              </a:rPr>
              <a:t>✓ Booking sync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059936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7284"/>
                </a:solidFill>
                <a:latin typeface="Aptos"/>
              </a:rPr>
              <a:t>✓ Discrepancies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407408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7284"/>
                </a:solidFill>
                <a:latin typeface="Aptos"/>
              </a:rPr>
              <a:t>✓ Discounts &amp; promotions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754880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7284"/>
                </a:solidFill>
                <a:latin typeface="Aptos"/>
              </a:rPr>
              <a:t>✓ Reports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463040"/>
            <a:ext cx="3429000" cy="4526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58200" y="1719072"/>
            <a:ext cx="1417320" cy="274320"/>
          </a:xfrm>
          <a:prstGeom prst="round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1732787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PREMIUM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219456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C2340"/>
                </a:solidFill>
                <a:latin typeface="Aptos"/>
              </a:rPr>
              <a:t>Up to 10 channels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260604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7284"/>
                </a:solidFill>
                <a:latin typeface="Aptos"/>
              </a:rPr>
              <a:t>Monthly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017520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C2340"/>
                </a:solidFill>
                <a:latin typeface="Aptos"/>
              </a:rPr>
              <a:t>Includes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3364992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7284"/>
                </a:solidFill>
                <a:latin typeface="Aptos"/>
              </a:rPr>
              <a:t>✓ Everything in Pro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712464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7284"/>
                </a:solidFill>
                <a:latin typeface="Aptos"/>
              </a:rPr>
              <a:t>✓ Advanced 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059936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7284"/>
                </a:solidFill>
                <a:latin typeface="Aptos"/>
              </a:rPr>
              <a:t>✓ Dynamic pricing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4407408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7284"/>
                </a:solidFill>
                <a:latin typeface="Aptos"/>
              </a:rPr>
              <a:t>✓ Multi-property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4754880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7284"/>
                </a:solidFill>
                <a:latin typeface="Aptos"/>
              </a:rPr>
              <a:t>✓ API access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5102352"/>
            <a:ext cx="2834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667284"/>
                </a:solidFill>
                <a:latin typeface="Aptos"/>
              </a:rPr>
              <a:t>✓ Priority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557D6"/>
                </a:solidFill>
                <a:latin typeface="Aptos"/>
              </a:rPr>
              <a:t>09  |  ADMIN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C2340"/>
                </a:solidFill>
                <a:latin typeface="Aptos"/>
              </a:rPr>
              <a:t>Admin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7284"/>
                </a:solidFill>
                <a:latin typeface="Aptos"/>
              </a:rPr>
              <a:t>Central administration for customers, properties, integrations, billing and system health.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2900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09928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67128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67284"/>
                </a:solidFill>
                <a:latin typeface="Aptos"/>
              </a:rPr>
              <a:t>Organizations, plans, status and support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42900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09928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Properties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67128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67284"/>
                </a:solidFill>
                <a:latin typeface="Aptos"/>
              </a:rPr>
              <a:t>All properties across the platform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08760"/>
            <a:ext cx="342900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709928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Channel Integrations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67128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67284"/>
                </a:solidFill>
                <a:latin typeface="Aptos"/>
              </a:rPr>
              <a:t>Connections, health and sync 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66160"/>
            <a:ext cx="342900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767328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Plans &amp; Billing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224528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67284"/>
                </a:solidFill>
                <a:latin typeface="Aptos"/>
              </a:rPr>
              <a:t>Subscriptions, invoices and payments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566160"/>
            <a:ext cx="342900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767328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Users &amp;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224528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67284"/>
                </a:solidFill>
                <a:latin typeface="Aptos"/>
              </a:rPr>
              <a:t>Platform admins, support and operations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566160"/>
            <a:ext cx="3429000" cy="1600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767328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C2340"/>
                </a:solidFill>
                <a:latin typeface="Aptos"/>
              </a:rPr>
              <a:t>System 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24528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67284"/>
                </a:solidFill>
                <a:latin typeface="Aptos"/>
              </a:rPr>
              <a:t>API, workers, database and storage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557D6"/>
                </a:solidFill>
                <a:latin typeface="Aptos"/>
              </a:rPr>
              <a:t>10  |  TECHNOLOGY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C2340"/>
                </a:solidFill>
                <a:latin typeface="Aptos"/>
              </a:rPr>
              <a:t>Technology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7284"/>
                </a:solidFill>
                <a:latin typeface="Aptos"/>
              </a:rPr>
              <a:t>A modular foundation for Angular, Node.js and MongoDB.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10332720" cy="594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62763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0C2340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62763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67284"/>
                </a:solidFill>
                <a:latin typeface="Aptos"/>
              </a:rPr>
              <a:t>Angular • Responsive web app • Owner + Admin portals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86000"/>
            <a:ext cx="10332720" cy="594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4505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0C2340"/>
                </a:solidFill>
                <a:latin typeface="Aptos"/>
              </a:rPr>
              <a:t>API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5059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67284"/>
                </a:solidFill>
                <a:latin typeface="Aptos"/>
              </a:rPr>
              <a:t>Node.js + TypeScript • REST • Authentication • RBAC • Tenant isolation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108960"/>
            <a:ext cx="10332720" cy="594360"/>
          </a:xfrm>
          <a:prstGeom prst="roundRect">
            <a:avLst/>
          </a:prstGeom>
          <a:solidFill>
            <a:srgbClr val="EBF1FF"/>
          </a:solidFill>
          <a:ln w="8890">
            <a:solidFill>
              <a:srgbClr val="25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27355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2557D6"/>
                </a:solidFill>
                <a:latin typeface="Aptos"/>
              </a:rPr>
              <a:t>Core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27355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67284"/>
                </a:solidFill>
                <a:latin typeface="Aptos"/>
              </a:rPr>
              <a:t>Property • Inventory • Rates • Bookings • Channel Manager • Billing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31920"/>
            <a:ext cx="10332720" cy="594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09651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0C2340"/>
                </a:solidFill>
                <a:latin typeface="Aptos"/>
              </a:rPr>
              <a:t>Async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09651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67284"/>
                </a:solidFill>
                <a:latin typeface="Aptos"/>
              </a:rPr>
              <a:t>Queue • Workers • Webhooks • Retry • Sync logs • Notifications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754880"/>
            <a:ext cx="10332720" cy="594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91947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>
                <a:solidFill>
                  <a:srgbClr val="0C2340"/>
                </a:solidFill>
                <a:latin typeface="Aptos"/>
              </a:rPr>
              <a:t>Data &amp;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91947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67284"/>
                </a:solidFill>
                <a:latin typeface="Aptos"/>
              </a:rPr>
              <a:t>MongoDB Atlas • Redis • S3 • CDN • Monitoring • Backups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67284"/>
                </a:solidFill>
                <a:latin typeface="Aptos"/>
              </a:rPr>
              <a:t>Use official OTA APIs / certified channel integrations wherever available.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557D6"/>
                </a:solidFill>
                <a:latin typeface="Aptos"/>
              </a:rPr>
              <a:t>11  | 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C2340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02412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67284"/>
                </a:solidFill>
                <a:latin typeface="Aptos"/>
              </a:rPr>
              <a:t>Build the operational foundation first, then scale integrations and revenue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29000" cy="4114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914400" cy="274320"/>
          </a:xfrm>
          <a:prstGeom prst="roundRect">
            <a:avLst/>
          </a:prstGeom>
          <a:solidFill>
            <a:srgbClr val="25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4251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• 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649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• Property / Rooms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03904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• Inventory + 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42816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• Bookings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8172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• Initial OTA integrations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554480"/>
            <a:ext cx="3429000" cy="4114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54880" y="1828800"/>
            <a:ext cx="914400" cy="274320"/>
          </a:xfrm>
          <a:prstGeom prst="round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84251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317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Channel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9260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• More OTAs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3649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• Mapping + Discrepancies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803904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• Discounts + Promotions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242816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•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68172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• Multi-property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1554480"/>
            <a:ext cx="3429000" cy="41148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49640" y="1828800"/>
            <a:ext cx="914400" cy="274320"/>
          </a:xfrm>
          <a:prstGeom prst="round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9640" y="1842516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3317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C2340"/>
                </a:solidFill>
                <a:latin typeface="Aptos"/>
              </a:rPr>
              <a:t>Revenue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9260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• Dynamic pricing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36499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• Demand forecasting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803904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• Competitor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242816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67284"/>
                </a:solidFill>
                <a:latin typeface="Aptos"/>
              </a:rPr>
              <a:t>• AI recommendations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C2340"/>
                </a:solidFill>
                <a:latin typeface="Aptos"/>
              </a:rPr>
              <a:t>Outcome: a single operating system for independent accommodation businesses.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1A9B8"/>
                </a:solidFill>
                <a:latin typeface="Aptos"/>
              </a:rPr>
              <a:t>THE PRODUCT PROMISE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Manage your property once.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Sell everywhere.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78892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CDDCF4"/>
                </a:solidFill>
                <a:latin typeface="Aptos"/>
              </a:rPr>
              <a:t>One platform for property data, inventory, rates, bookings and channel synchronization.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886200"/>
            <a:ext cx="1051560" cy="274320"/>
          </a:xfrm>
          <a:prstGeom prst="roundRect">
            <a:avLst/>
          </a:prstGeom>
          <a:solidFill>
            <a:srgbClr val="25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899915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PROPERTY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3886200"/>
            <a:ext cx="1143000" cy="274320"/>
          </a:xfrm>
          <a:prstGeom prst="roundRect">
            <a:avLst/>
          </a:prstGeom>
          <a:solidFill>
            <a:srgbClr val="21A9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3899915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INVENTORY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1" y="3886200"/>
            <a:ext cx="914400" cy="274320"/>
          </a:xfrm>
          <a:prstGeom prst="roundRect">
            <a:avLst/>
          </a:prstGeom>
          <a:solidFill>
            <a:srgbClr val="1886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1" y="3899915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RATES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3886200"/>
            <a:ext cx="1097280" cy="274320"/>
          </a:xfrm>
          <a:prstGeom prst="roundRect">
            <a:avLst/>
          </a:prstGeom>
          <a:solidFill>
            <a:srgbClr val="E291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3899915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BOOKINGS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14416" y="3886200"/>
            <a:ext cx="1097280" cy="274320"/>
          </a:xfrm>
          <a:prstGeom prst="roundRect">
            <a:avLst/>
          </a:prstGeom>
          <a:solidFill>
            <a:srgbClr val="25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14416" y="3899915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CHANNELS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12648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9BB1D2"/>
                </a:solidFill>
                <a:latin typeface="Aptos"/>
              </a:rPr>
              <a:t>Client discussion deck • Product concept • Version 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